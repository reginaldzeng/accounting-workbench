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6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18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BOM 报价审核工具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83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9DC3E6"/>
                </a:solidFill>
                <a:latin typeface="微软雅黑"/>
                <a:ea typeface="微软雅黑"/>
              </a:rPr>
              <a:t>操作指引 · 图解版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C7D3E6"/>
                </a:solidFill>
                <a:latin typeface="微软雅黑"/>
                <a:ea typeface="微软雅黑"/>
              </a:rPr>
              <a:t>财务核算工作台 · 成本模块 · 第 8 条工具线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FBED6"/>
                </a:solidFill>
                <a:latin typeface="微软雅黑"/>
                <a:ea typeface="微软雅黑"/>
              </a:rPr>
              <a:t>核算组使用（成本会计 · 财务BP） ｜ 2026-09 ｜ 对应上线版本 V2.548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全流程概览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一句话 + 两道戳主线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10698480" cy="868680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2F6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71600"/>
            <a:ext cx="10241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3A5F"/>
                </a:solidFill>
                <a:latin typeface="微软雅黑"/>
                <a:ea typeface="微软雅黑"/>
              </a:rPr>
              <a:t>研发在钉钉提采购核算表 → </a:t>
            </a:r>
            <a:r>
              <a:rPr sz="1300" b="0">
                <a:solidFill>
                  <a:srgbClr val="16243A"/>
                </a:solidFill>
                <a:latin typeface="微软雅黑"/>
                <a:ea typeface="微软雅黑"/>
              </a:rPr>
              <a:t>成本会计逐料复核、核价、定性、</a:t>
            </a:r>
            <a:r>
              <a:rPr sz="1300" b="1">
                <a:solidFill>
                  <a:srgbClr val="2E7D32"/>
                </a:solidFill>
                <a:latin typeface="微软雅黑"/>
                <a:ea typeface="微软雅黑"/>
              </a:rPr>
              <a:t>初审</a:t>
            </a:r>
            <a:r>
              <a:rPr sz="1300" b="0">
                <a:solidFill>
                  <a:srgbClr val="16243A"/>
                </a:solidFill>
                <a:latin typeface="微软雅黑"/>
                <a:ea typeface="微软雅黑"/>
              </a:rPr>
              <a:t>（盖初审戳）→ </a:t>
            </a:r>
            <a:r>
              <a:rPr sz="1300" b="1">
                <a:solidFill>
                  <a:srgbClr val="6F42C1"/>
                </a:solidFill>
                <a:latin typeface="微软雅黑"/>
                <a:ea typeface="微软雅黑"/>
              </a:rPr>
              <a:t>财务BP 终审</a:t>
            </a:r>
            <a:r>
              <a:rPr sz="1300" b="0">
                <a:solidFill>
                  <a:srgbClr val="16243A"/>
                </a:solidFill>
                <a:latin typeface="微软雅黑"/>
                <a:ea typeface="微软雅黑"/>
              </a:rPr>
              <a:t>（盖已审核戳）→ 只有终审版对外供 BP 定价消费。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34640"/>
            <a:ext cx="1700784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7280"/>
            </a:solidFill>
          </a:ln>
          <a:effectLst/>
          <a:effectLst>
            <a:outerShdw blurRad="40000" dist="20000" dir="5400000" rotWithShape="0">
              <a:srgbClr val="A6B0C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980944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6B7280"/>
                </a:solidFill>
                <a:latin typeface="微软雅黑"/>
                <a:ea typeface="微软雅黑"/>
              </a:rPr>
              <a:t>研发提单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0156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钉钉审批附件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9424" y="3218688"/>
            <a:ext cx="182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14016" y="2834640"/>
            <a:ext cx="1700784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BF"/>
            </a:solidFill>
          </a:ln>
          <a:effectLst/>
          <a:effectLst>
            <a:outerShdw blurRad="40000" dist="20000" dir="5400000" rotWithShape="0">
              <a:srgbClr val="A6B0C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14016" y="2980944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F6FBF"/>
                </a:solidFill>
                <a:latin typeface="微软雅黑"/>
                <a:ea typeface="微软雅黑"/>
              </a:rPr>
              <a:t>① 立项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340156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抓附件·解析·待办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218688"/>
            <a:ext cx="182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1104" y="2834640"/>
            <a:ext cx="1700784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BF"/>
            </a:solidFill>
          </a:ln>
          <a:effectLst/>
          <a:effectLst>
            <a:outerShdw blurRad="40000" dist="20000" dir="5400000" rotWithShape="0">
              <a:srgbClr val="A6B0C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1104" y="2980944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F6FBF"/>
                </a:solidFill>
                <a:latin typeface="微软雅黑"/>
                <a:ea typeface="微软雅黑"/>
              </a:rPr>
              <a:t>② 复核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6" y="340156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四步·核价·定性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218688"/>
            <a:ext cx="182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08192" y="2834640"/>
            <a:ext cx="1700784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  <a:effectLst>
            <a:outerShdw blurRad="40000" dist="20000" dir="5400000" rotWithShape="0">
              <a:srgbClr val="A6B0C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980944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2E7D32"/>
                </a:solidFill>
                <a:latin typeface="微软雅黑"/>
                <a:ea typeface="微软雅黑"/>
              </a:rPr>
              <a:t>③ 初审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340156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成本会计·盖初审戳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0688" y="3218688"/>
            <a:ext cx="182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2834640"/>
            <a:ext cx="1700784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F42C1"/>
            </a:solidFill>
          </a:ln>
          <a:effectLst/>
          <a:effectLst>
            <a:outerShdw blurRad="40000" dist="20000" dir="5400000" rotWithShape="0">
              <a:srgbClr val="A6B0C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79" y="2980944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6F42C1"/>
                </a:solidFill>
                <a:latin typeface="微软雅黑"/>
                <a:ea typeface="微软雅黑"/>
              </a:rPr>
              <a:t>④ 终审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8431" y="340156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财务BP·盖已审核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7776" y="3218688"/>
            <a:ext cx="1828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02367" y="2834640"/>
            <a:ext cx="1700784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A5F"/>
            </a:solidFill>
          </a:ln>
          <a:effectLst/>
          <a:effectLst>
            <a:outerShdw blurRad="40000" dist="20000" dir="5400000" rotWithShape="0">
              <a:srgbClr val="A6B0C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2367" y="2980944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3A5F"/>
                </a:solidFill>
                <a:latin typeface="微软雅黑"/>
                <a:ea typeface="微软雅黑"/>
              </a:rPr>
              <a:t>⑤ 对外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19" y="340156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BP 定价消费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297680"/>
            <a:ext cx="10698480" cy="1737360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34840"/>
            <a:ext cx="10241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1F3A5F"/>
                </a:solidFill>
                <a:latin typeface="微软雅黑"/>
                <a:ea typeface="微软雅黑"/>
              </a:rPr>
              <a:t>两道戳＝两个人把关：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成本会计初审（业务判断：用量对不对、价对不对、能不能报价），财务BP终审（形式复核、拿数报价）。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2E7D32"/>
                </a:solidFill>
                <a:latin typeface="微软雅黑"/>
                <a:ea typeface="微软雅黑"/>
              </a:rPr>
              <a:t>只有终审版对外：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初审版内部可见但绝不外发；改了成本必须重审（戳自动失效）。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96A00"/>
                </a:solidFill>
                <a:latin typeface="微软雅黑"/>
                <a:ea typeface="微软雅黑"/>
              </a:rPr>
              <a:t>单人模式例外：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仅主管理员可自审自批，留痕明记「自审·单人」；普通账号强制双人。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概览  ·  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全流程概览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对外门控 + 采购核算表三版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微软雅黑"/>
                <a:ea typeface="微软雅黑"/>
              </a:rPr>
              <a:t>谁能看 / 什么对外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91440" cy="65836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未复核 / 已复核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待办与复核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01952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6B7280"/>
                </a:solidFill>
                <a:latin typeface="微软雅黑"/>
                <a:ea typeface="微软雅黑"/>
              </a:rPr>
              <a:t>❌ 不对外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78608"/>
            <a:ext cx="51206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578608"/>
            <a:ext cx="91440" cy="65836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6517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初审（成本会计）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标准台账·内部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65176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32"/>
                </a:solidFill>
                <a:latin typeface="微软雅黑"/>
                <a:ea typeface="微软雅黑"/>
              </a:rPr>
              <a:t>❌ 未终审不外发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28415"/>
            <a:ext cx="51206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28415"/>
            <a:ext cx="91440" cy="658368"/>
          </a:xfrm>
          <a:prstGeom prst="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40156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已审核（财务BP终审）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标准台账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401568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6F42C1"/>
                </a:solidFill>
                <a:latin typeface="微软雅黑"/>
                <a:ea typeface="微软雅黑"/>
              </a:rPr>
              <a:t>✅ 只有此版对外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78224"/>
            <a:ext cx="512064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078224"/>
            <a:ext cx="91440" cy="658368"/>
          </a:xfrm>
          <a:prstGeom prst="rect">
            <a:avLst/>
          </a:prstGeom>
          <a:solidFill>
            <a:srgbClr val="ADB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151376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已失效 / 作废 / 删除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历史留痕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151376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ADB5BD"/>
                </a:solidFill>
                <a:latin typeface="微软雅黑"/>
                <a:ea typeface="微软雅黑"/>
              </a:rPr>
              <a:t>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微软雅黑"/>
                <a:ea typeface="微软雅黑"/>
              </a:rPr>
              <a:t>一张采购核算表，可能三个版本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828800"/>
            <a:ext cx="53949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9202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成本核算表（商务输出）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267712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243A"/>
                </a:solidFill>
                <a:latin typeface="微软雅黑"/>
                <a:ea typeface="微软雅黑"/>
              </a:rPr>
              <a:t>采购/商务原始底稿（财务改之前）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816352"/>
            <a:ext cx="5394960" cy="868680"/>
          </a:xfrm>
          <a:prstGeom prst="roundRect">
            <a:avLst/>
          </a:prstGeom>
          <a:solidFill>
            <a:srgbClr val="F2F6FB"/>
          </a:solidFill>
          <a:ln w="1778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90779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成本核算表（财务复核）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255264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243A"/>
                </a:solidFill>
                <a:latin typeface="微软雅黑"/>
                <a:ea typeface="微软雅黑"/>
              </a:rPr>
              <a:t>成本会计复核后的全量财务版 → 台账以它为准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803904"/>
            <a:ext cx="53949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89534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F42C1"/>
                </a:solidFill>
                <a:latin typeface="微软雅黑"/>
                <a:ea typeface="微软雅黑"/>
              </a:rPr>
              <a:t>成本核算表（商品版本）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242816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16243A"/>
                </a:solidFill>
                <a:latin typeface="微软雅黑"/>
                <a:ea typeface="微软雅黑"/>
              </a:rPr>
              <a:t>＝财务复核的脱敏对外形态（删型号/规格/供应商）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809744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同产品既有商务输出又有财务复核 → 以财务复核入账，商务输出降为「采购原始」参考（详情页显 采购原始→财务复核）。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概览  ·  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全流程概览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数据从哪来、到哪去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698480" cy="2331720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2F6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" cy="2331720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6362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F6FBF"/>
                </a:solidFill>
                <a:latin typeface="微软雅黑"/>
                <a:ea typeface="微软雅黑"/>
              </a:rPr>
              <a:t>进：钉钉审批附件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20824"/>
            <a:ext cx="10149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16243A"/>
                </a:solidFill>
                <a:latin typeface="微软雅黑"/>
                <a:ea typeface="微软雅黑"/>
              </a:rPr>
              <a:t>① 手工按单号立项，或 OA 到「成本核算节点」自动立项进待办（不回灌历史）。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16243A"/>
                </a:solidFill>
                <a:latin typeface="微软雅黑"/>
                <a:ea typeface="微软雅黑"/>
              </a:rPr>
              <a:t>② 附件拿不到的三种：评论区附件（官方不给接口）/ 发起人离职（走钉盘代下载）/ 网络权限——都会人话提示出路。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16243A"/>
                </a:solidFill>
                <a:latin typeface="微软雅黑"/>
                <a:ea typeface="微软雅黑"/>
              </a:rPr>
              <a:t>③ 金蝶只用于核价（应付实采）与反查物料编码，只读、不写回。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698480" cy="2331720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9728" cy="23317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07822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7D32"/>
                </a:solidFill>
                <a:latin typeface="微软雅黑"/>
                <a:ea typeface="微软雅黑"/>
              </a:rPr>
              <a:t>出：落公盘 + 传回 OA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35424"/>
            <a:ext cx="10149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16243A"/>
                </a:solidFill>
                <a:latin typeface="微软雅黑"/>
                <a:ea typeface="微软雅黑"/>
              </a:rPr>
              <a:t>① 初审通过即落公盘：只有成品主动落（财务版+脱敏版，含上游页），半成品/复配料随成品带出。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16243A"/>
                </a:solidFill>
                <a:latin typeface="微软雅黑"/>
                <a:ea typeface="微软雅黑"/>
              </a:rPr>
              <a:t>② 报表取件机把 outbox 同步到共享盘「3.1 成本核算表」，落好发钉钉送达通知。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• </a:t>
            </a:r>
            <a:r>
              <a:rPr sz="1150" b="0">
                <a:solidFill>
                  <a:srgbClr val="16243A"/>
                </a:solidFill>
                <a:latin typeface="微软雅黑"/>
                <a:ea typeface="微软雅黑"/>
              </a:rPr>
              <a:t>③ 两版导出（财务版+脱敏版 zip）由成本会计照旧手工传回 OA 表单——钉钉流程不动（吴总定）。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概览  ·  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操作 · 第 ① 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立项：把这单抓进工作台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录钉钉审批单号 → 抓附件 → 解析成台账（含税五分项）→ 生成待办。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能入的自动入账、</a:t>
            </a:r>
            <a:r>
              <a:rPr sz="1200" b="1">
                <a:solidFill>
                  <a:srgbClr val="A83529"/>
                </a:solidFill>
                <a:latin typeface="微软雅黑"/>
                <a:ea typeface="微软雅黑"/>
              </a:rPr>
              <a:t>勾稽不平的记「待修」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——判断都在处理页，录入框不判断。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OA 到「成本核算节点」时服务器</a:t>
            </a: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自动立项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并钉钉提醒该节点在办人。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历史老单勾「历史补录」：照常初审、初审即盖补录戳定稿、不经 BP 终审。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532120"/>
            <a:ext cx="4572000" cy="566928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A835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557784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A83529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16243A"/>
                </a:solidFill>
                <a:latin typeface="微软雅黑"/>
                <a:ea typeface="微软雅黑"/>
              </a:rPr>
              <a:t>勾稽不平不入账是红线——退回研发/工厂改小计，不是放宽。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371600"/>
            <a:ext cx="6080760" cy="4754880"/>
          </a:xfrm>
          <a:prstGeom prst="roundRect">
            <a:avLst/>
          </a:prstGeom>
          <a:solidFill>
            <a:srgbClr val="FBFCFE"/>
          </a:solidFill>
          <a:ln w="1587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87568" y="1481328"/>
            <a:ext cx="5861304" cy="4535424"/>
          </a:xfrm>
          <a:prstGeom prst="roundRect">
            <a:avLst/>
          </a:prstGeom>
          <a:noFill/>
          <a:ln w="12700">
            <a:solidFill>
              <a:srgbClr val="ADB5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3246120"/>
            <a:ext cx="6080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ADB5BD"/>
                </a:solidFill>
                <a:latin typeface="微软雅黑"/>
                <a:ea typeface="微软雅黑"/>
              </a:rPr>
              <a:t>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3767327"/>
            <a:ext cx="5715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在此粘贴截图</a:t>
            </a:r>
          </a:p>
          <a:p>
            <a:pPr algn="ctr">
              <a:lnSpc>
                <a:spcPct val="108000"/>
              </a:lnSpc>
              <a:spcBef>
                <a:spcPts val="200"/>
              </a:spcBef>
              <a:spcAft>
                <a:spcPts val="400"/>
              </a:spcAft>
            </a:pPr>
            <a:r>
              <a:rPr sz="1100" b="0">
                <a:solidFill>
                  <a:srgbClr val="2F6FBF"/>
                </a:solidFill>
                <a:latin typeface="微软雅黑"/>
                <a:ea typeface="微软雅黑"/>
              </a:rPr>
              <a:t>立项弹窗（录单号 / 历史补录勾选）+ 待办列表按单号归堆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操作  ·  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操作 · 第 ② 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进处理页：一个单号 → 组 → 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一个采购核算表文件（成品+半成品+复配料 sheet）＝</a:t>
            </a: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一组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处理页列出组内全部产品，含被拦下的「待修」行（红底，标疑似漏加的料）。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审核顺序自下而上：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复配料 → 半成品 → 成品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；上游没定稿，下游定不了。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组内可「重连钉钉替换 / 上传替换」换掉某张表，旧版留痕。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371600"/>
            <a:ext cx="6080760" cy="4754880"/>
          </a:xfrm>
          <a:prstGeom prst="roundRect">
            <a:avLst/>
          </a:prstGeom>
          <a:solidFill>
            <a:srgbClr val="FBFCFE"/>
          </a:solidFill>
          <a:ln w="1587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87568" y="1481328"/>
            <a:ext cx="5861304" cy="4535424"/>
          </a:xfrm>
          <a:prstGeom prst="roundRect">
            <a:avLst/>
          </a:prstGeom>
          <a:noFill/>
          <a:ln w="12700">
            <a:solidFill>
              <a:srgbClr val="ADB5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3246120"/>
            <a:ext cx="6080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ADB5BD"/>
                </a:solidFill>
                <a:latin typeface="微软雅黑"/>
                <a:ea typeface="微软雅黑"/>
              </a:rPr>
              <a:t>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767327"/>
            <a:ext cx="5715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在此粘贴截图</a:t>
            </a:r>
          </a:p>
          <a:p>
            <a:pPr algn="ctr">
              <a:lnSpc>
                <a:spcPct val="108000"/>
              </a:lnSpc>
              <a:spcBef>
                <a:spcPts val="200"/>
              </a:spcBef>
              <a:spcAft>
                <a:spcPts val="400"/>
              </a:spcAft>
            </a:pPr>
            <a:r>
              <a:rPr sz="1100" b="0">
                <a:solidFill>
                  <a:srgbClr val="2F6FBF"/>
                </a:solidFill>
                <a:latin typeface="微软雅黑"/>
                <a:ea typeface="微软雅黑"/>
              </a:rPr>
              <a:t>处理页（组卡 + 组内产品表 + 审核顺序链路条）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操作  ·  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操作 · 第 ③ 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复核四步：①②看，③④签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①BOM清单 ②工艺流程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＝参考材料，只看不签。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③ 用量自洽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：采购核算表添加量 vs 研发BOM用量，按编码优先比，标缺料/多料/用量不符。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④ 报价核算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：逐料成本 + 核价；改税率/发票类型即重算成本不含税。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③④都点「确认无误」才能定稿；改了价税费 → ④自动失效要重确认。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371600"/>
            <a:ext cx="6080760" cy="4754880"/>
          </a:xfrm>
          <a:prstGeom prst="roundRect">
            <a:avLst/>
          </a:prstGeom>
          <a:solidFill>
            <a:srgbClr val="FBFCFE"/>
          </a:solidFill>
          <a:ln w="1587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87568" y="1481328"/>
            <a:ext cx="5861304" cy="4535424"/>
          </a:xfrm>
          <a:prstGeom prst="roundRect">
            <a:avLst/>
          </a:prstGeom>
          <a:noFill/>
          <a:ln w="12700">
            <a:solidFill>
              <a:srgbClr val="ADB5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3246120"/>
            <a:ext cx="6080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ADB5BD"/>
                </a:solidFill>
                <a:latin typeface="微软雅黑"/>
                <a:ea typeface="微软雅黑"/>
              </a:rPr>
              <a:t>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767327"/>
            <a:ext cx="5715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在此粘贴截图</a:t>
            </a:r>
          </a:p>
          <a:p>
            <a:pPr algn="ctr">
              <a:lnSpc>
                <a:spcPct val="108000"/>
              </a:lnSpc>
              <a:spcBef>
                <a:spcPts val="200"/>
              </a:spcBef>
              <a:spcAft>
                <a:spcPts val="400"/>
              </a:spcAft>
            </a:pPr>
            <a:r>
              <a:rPr sz="1100" b="0">
                <a:solidFill>
                  <a:srgbClr val="2F6FBF"/>
                </a:solidFill>
                <a:latin typeface="微软雅黑"/>
                <a:ea typeface="微软雅黑"/>
              </a:rPr>
              <a:t>采购核算表详情 · 复核四步页签（③用量自洽 / ④报价核算）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操作  ·  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操作 · 核价与核对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研发填的价对不对？查金蝶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每行料点「核价」→ 弹窗查</a:t>
            </a: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金蝶应付单实采价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，研发高报飘红。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还能查金蝶 ENG_BOM 已登用量、BOM 反查同编码历史价、与另一张表逐料对比。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同编码跨产品定价差异大 → 核价列亮红点提示。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用途：判断两条是同一产品的新旧版（该替代）还是两个并存产品。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371600"/>
            <a:ext cx="6080760" cy="4754880"/>
          </a:xfrm>
          <a:prstGeom prst="roundRect">
            <a:avLst/>
          </a:prstGeom>
          <a:solidFill>
            <a:srgbClr val="FBFCFE"/>
          </a:solidFill>
          <a:ln w="1587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87568" y="1481328"/>
            <a:ext cx="5861304" cy="4535424"/>
          </a:xfrm>
          <a:prstGeom prst="roundRect">
            <a:avLst/>
          </a:prstGeom>
          <a:noFill/>
          <a:ln w="12700">
            <a:solidFill>
              <a:srgbClr val="ADB5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3246120"/>
            <a:ext cx="6080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ADB5BD"/>
                </a:solidFill>
                <a:latin typeface="微软雅黑"/>
                <a:ea typeface="微软雅黑"/>
              </a:rPr>
              <a:t>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767327"/>
            <a:ext cx="5715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在此粘贴截图</a:t>
            </a:r>
          </a:p>
          <a:p>
            <a:pPr algn="ctr">
              <a:lnSpc>
                <a:spcPct val="108000"/>
              </a:lnSpc>
              <a:spcBef>
                <a:spcPts val="200"/>
              </a:spcBef>
              <a:spcAft>
                <a:spcPts val="400"/>
              </a:spcAft>
            </a:pPr>
            <a:r>
              <a:rPr sz="1100" b="0">
                <a:solidFill>
                  <a:srgbClr val="2F6FBF"/>
                </a:solidFill>
                <a:latin typeface="微软雅黑"/>
                <a:ea typeface="微软雅黑"/>
              </a:rPr>
              <a:t>核价 / 核对弹窗（金蝶应付 vs 研发飘红；两表逐料对比）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操作  ·  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操作 · 上游链路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复配料/半成品连不上？手动指认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料行是复配料/半成品时，自动下钻到它的子采购核算表、按上游全成本算。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研发把成品和半成品</a:t>
            </a:r>
            <a:r>
              <a:rPr sz="1200" b="1">
                <a:solidFill>
                  <a:srgbClr val="A83529"/>
                </a:solidFill>
                <a:latin typeface="微软雅黑"/>
                <a:ea typeface="微软雅黑"/>
              </a:rPr>
              <a:t>命名成同名/漏括号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 → 自动连不上，标「撞名」。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点该行「⚠ 指认上游」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，从</a:t>
            </a: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同组候选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里选对应产品；连上按其现全成本重算。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命名撞了还能「✎ 改产品名」，连该产品所有版本一起改。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532120"/>
            <a:ext cx="4572000" cy="566928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2F6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557784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F6FBF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16243A"/>
                </a:solidFill>
                <a:latin typeface="微软雅黑"/>
                <a:ea typeface="微软雅黑"/>
              </a:rPr>
              <a:t>候选只列同组产品，不再是整张台账——范围窄、点开才展开。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371600"/>
            <a:ext cx="6080760" cy="4754880"/>
          </a:xfrm>
          <a:prstGeom prst="roundRect">
            <a:avLst/>
          </a:prstGeom>
          <a:solidFill>
            <a:srgbClr val="FBFCFE"/>
          </a:solidFill>
          <a:ln w="1587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87568" y="1481328"/>
            <a:ext cx="5861304" cy="4535424"/>
          </a:xfrm>
          <a:prstGeom prst="roundRect">
            <a:avLst/>
          </a:prstGeom>
          <a:noFill/>
          <a:ln w="12700">
            <a:solidFill>
              <a:srgbClr val="ADB5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3246120"/>
            <a:ext cx="6080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ADB5BD"/>
                </a:solidFill>
                <a:latin typeface="微软雅黑"/>
                <a:ea typeface="微软雅黑"/>
              </a:rPr>
              <a:t>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3767327"/>
            <a:ext cx="5715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在此粘贴截图</a:t>
            </a:r>
          </a:p>
          <a:p>
            <a:pPr algn="ctr">
              <a:lnSpc>
                <a:spcPct val="108000"/>
              </a:lnSpc>
              <a:spcBef>
                <a:spcPts val="200"/>
              </a:spcBef>
              <a:spcAft>
                <a:spcPts val="400"/>
              </a:spcAft>
            </a:pPr>
            <a:r>
              <a:rPr sz="1100" b="0">
                <a:solidFill>
                  <a:srgbClr val="2F6FBF"/>
                </a:solidFill>
                <a:latin typeface="微软雅黑"/>
                <a:ea typeface="微软雅黑"/>
              </a:rPr>
              <a:t>上游链路表 + 料行「⚠ 指认上游」点开式菜单（同组候选）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操作  ·  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操作 · 财务复核槽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财务复核改了数 → 台账认财务版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研发表单里可能三版：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商务输出 / 财务复核 / 商品版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财务复核＝成本会计改数后的全量财务版；商品版＝它的脱敏形态。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同产品有商务输出又有财务复核 →</a:t>
            </a: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台账以财务复核为准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，商务输出降为「采购原始」参考。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详情页数据来源下显示：采购原始 X → 财务复核 Y（成本会计已改 ±Z）。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371600"/>
            <a:ext cx="6080760" cy="4754880"/>
          </a:xfrm>
          <a:prstGeom prst="roundRect">
            <a:avLst/>
          </a:prstGeom>
          <a:solidFill>
            <a:srgbClr val="FBFCFE"/>
          </a:solidFill>
          <a:ln w="1587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87568" y="1481328"/>
            <a:ext cx="5861304" cy="4535424"/>
          </a:xfrm>
          <a:prstGeom prst="roundRect">
            <a:avLst/>
          </a:prstGeom>
          <a:noFill/>
          <a:ln w="12700">
            <a:solidFill>
              <a:srgbClr val="ADB5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3246120"/>
            <a:ext cx="6080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ADB5BD"/>
                </a:solidFill>
                <a:latin typeface="微软雅黑"/>
                <a:ea typeface="微软雅黑"/>
              </a:rPr>
              <a:t>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767327"/>
            <a:ext cx="5715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在此粘贴截图</a:t>
            </a:r>
          </a:p>
          <a:p>
            <a:pPr algn="ctr">
              <a:lnSpc>
                <a:spcPct val="108000"/>
              </a:lnSpc>
              <a:spcBef>
                <a:spcPts val="200"/>
              </a:spcBef>
              <a:spcAft>
                <a:spcPts val="400"/>
              </a:spcAft>
            </a:pPr>
            <a:r>
              <a:rPr sz="1100" b="0">
                <a:solidFill>
                  <a:srgbClr val="2F6FBF"/>
                </a:solidFill>
                <a:latin typeface="微软雅黑"/>
                <a:ea typeface="微软雅黑"/>
              </a:rPr>
              <a:t>详情页「数据来源」行：采购原始 → 财务复核（±差额）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操作  · 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操作 · 第 ③ 步（定稿）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审核定性 → 初审：一个动作定稿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「⚑ 审核归档」弹窗：定</a:t>
            </a: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物料类别（5 类）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 + 是否允许对外报价（不建议必填原因）。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撞码/同料时</a:t>
            </a:r>
            <a:r>
              <a:rPr sz="1200" b="1">
                <a:solidFill>
                  <a:srgbClr val="B96A00"/>
                </a:solidFill>
                <a:latin typeface="微软雅黑"/>
                <a:ea typeface="微软雅黑"/>
              </a:rPr>
              <a:t>换码承接三选一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：A 原版失效 / B 并行都对外 / C 补录历史版不对外。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四步齐 + 上游就绪 + 承接已答 → </a:t>
            </a: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定性即定稿，盖「初审」戳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金蝶可按 CP 反查物料编码候选，只出候选、不自动写。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371600"/>
            <a:ext cx="6080760" cy="4754880"/>
          </a:xfrm>
          <a:prstGeom prst="roundRect">
            <a:avLst/>
          </a:prstGeom>
          <a:solidFill>
            <a:srgbClr val="FBFCFE"/>
          </a:solidFill>
          <a:ln w="1587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87568" y="1481328"/>
            <a:ext cx="5861304" cy="4535424"/>
          </a:xfrm>
          <a:prstGeom prst="roundRect">
            <a:avLst/>
          </a:prstGeom>
          <a:noFill/>
          <a:ln w="12700">
            <a:solidFill>
              <a:srgbClr val="ADB5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3246120"/>
            <a:ext cx="6080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ADB5BD"/>
                </a:solidFill>
                <a:latin typeface="微软雅黑"/>
                <a:ea typeface="微软雅黑"/>
              </a:rPr>
              <a:t>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767327"/>
            <a:ext cx="5715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在此粘贴截图</a:t>
            </a:r>
          </a:p>
          <a:p>
            <a:pPr algn="ctr">
              <a:lnSpc>
                <a:spcPct val="108000"/>
              </a:lnSpc>
              <a:spcBef>
                <a:spcPts val="200"/>
              </a:spcBef>
              <a:spcAft>
                <a:spcPts val="400"/>
              </a:spcAft>
            </a:pPr>
            <a:r>
              <a:rPr sz="1100" b="0">
                <a:solidFill>
                  <a:srgbClr val="2F6FBF"/>
                </a:solidFill>
                <a:latin typeface="微软雅黑"/>
                <a:ea typeface="微软雅黑"/>
              </a:rPr>
              <a:t>审核定性弹窗（物料类别 5 类 + 报价结论 + 换码承接 A/B/C）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操作  · 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操作 · 落盘与导出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初审即落公盘 + 两版导出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初审通过那一刻自动出</a:t>
            </a: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财务版 + 脱敏版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落服务器 outbox（带上游页）。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只有成品主动落盘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；半成品/复配料随成品文件带出、不单独落。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取件机同步到共享盘「3.1 成本核算表\年\月」，落好发钉钉送达通知。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详情页「导出采购核算表」：原版 / 重排版 / 财务版+脱敏版 zip；成品自动带上游多页。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532120"/>
            <a:ext cx="4572000" cy="566928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557784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7D32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16243A"/>
                </a:solidFill>
                <a:latin typeface="微软雅黑"/>
                <a:ea typeface="微软雅黑"/>
              </a:rPr>
              <a:t>终审不覆盖；落盘失败不卡审核，详情页可「重落公盘」。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371600"/>
            <a:ext cx="6080760" cy="4754880"/>
          </a:xfrm>
          <a:prstGeom prst="roundRect">
            <a:avLst/>
          </a:prstGeom>
          <a:solidFill>
            <a:srgbClr val="FBFCFE"/>
          </a:solidFill>
          <a:ln w="1587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87568" y="1481328"/>
            <a:ext cx="5861304" cy="4535424"/>
          </a:xfrm>
          <a:prstGeom prst="roundRect">
            <a:avLst/>
          </a:prstGeom>
          <a:noFill/>
          <a:ln w="12700">
            <a:solidFill>
              <a:srgbClr val="ADB5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3246120"/>
            <a:ext cx="6080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ADB5BD"/>
                </a:solidFill>
                <a:latin typeface="微软雅黑"/>
                <a:ea typeface="微软雅黑"/>
              </a:rPr>
              <a:t>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3767327"/>
            <a:ext cx="5715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在此粘贴截图</a:t>
            </a:r>
          </a:p>
          <a:p>
            <a:pPr algn="ctr">
              <a:lnSpc>
                <a:spcPct val="108000"/>
              </a:lnSpc>
              <a:spcBef>
                <a:spcPts val="200"/>
              </a:spcBef>
              <a:spcAft>
                <a:spcPts val="400"/>
              </a:spcAft>
            </a:pPr>
            <a:r>
              <a:rPr sz="1100" b="0">
                <a:solidFill>
                  <a:srgbClr val="2F6FBF"/>
                </a:solidFill>
                <a:latin typeface="微软雅黑"/>
                <a:ea typeface="微软雅黑"/>
              </a:rPr>
              <a:t>详情页落盘状态行「✓ 已落盘公盘」+ 导出下拉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操作  · 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操作 · 标准成本台账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毕业进台账：物料分类五色打头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定稿＝从「待办与复核」毕业进「标准成本台账」。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第一列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物料分类五色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，一眼分角色。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列：分类·物料编码·CP码·产品名·规格·五分项·全成本·审核日期·单号·客户·状态·操作。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搜索匹配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CP码/物料编码/产品名/客户/钉钉单号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状态标签：已失效/待替代/⇉并行/补录·无二审/导入·无明细。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1371600"/>
            <a:ext cx="6080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F3A5F"/>
                </a:solidFill>
                <a:latin typeface="微软雅黑"/>
                <a:ea typeface="微软雅黑"/>
              </a:rPr>
              <a:t>物料分类五色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1783080"/>
            <a:ext cx="310896" cy="310896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89320" y="1773936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E9384"/>
                </a:solidFill>
                <a:latin typeface="微软雅黑"/>
                <a:ea typeface="微软雅黑"/>
              </a:rPr>
              <a:t>复配料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203704"/>
            <a:ext cx="310896" cy="310896"/>
          </a:xfrm>
          <a:prstGeom prst="round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2194560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F6FBF"/>
                </a:solidFill>
                <a:latin typeface="微软雅黑"/>
                <a:ea typeface="微软雅黑"/>
              </a:rPr>
              <a:t>自产半成品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2624328"/>
            <a:ext cx="310896" cy="310896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2615184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32"/>
                </a:solidFill>
                <a:latin typeface="微软雅黑"/>
                <a:ea typeface="微软雅黑"/>
              </a:rPr>
              <a:t>自产成品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3044952"/>
            <a:ext cx="310896" cy="310896"/>
          </a:xfrm>
          <a:prstGeom prst="round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3035808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6F42C1"/>
                </a:solidFill>
                <a:latin typeface="微软雅黑"/>
                <a:ea typeface="微软雅黑"/>
              </a:rPr>
              <a:t>委外半成品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3465576"/>
            <a:ext cx="310896" cy="310896"/>
          </a:xfrm>
          <a:prstGeom prst="roundRect">
            <a:avLst/>
          </a:prstGeom>
          <a:solidFill>
            <a:srgbClr val="B9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3456432"/>
            <a:ext cx="2743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96A00"/>
                </a:solidFill>
                <a:latin typeface="微软雅黑"/>
                <a:ea typeface="微软雅黑"/>
              </a:rPr>
              <a:t>委外成品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0" y="1737360"/>
            <a:ext cx="3063240" cy="2286000"/>
          </a:xfrm>
          <a:prstGeom prst="roundRect">
            <a:avLst/>
          </a:prstGeom>
          <a:solidFill>
            <a:srgbClr val="FBFCFE"/>
          </a:solidFill>
          <a:ln w="1587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05088" y="1847088"/>
            <a:ext cx="2843784" cy="2066543"/>
          </a:xfrm>
          <a:prstGeom prst="roundRect">
            <a:avLst/>
          </a:prstGeom>
          <a:noFill/>
          <a:ln w="12700">
            <a:solidFill>
              <a:srgbClr val="ADB5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2377439"/>
            <a:ext cx="3063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ADB5BD"/>
                </a:solidFill>
                <a:latin typeface="微软雅黑"/>
                <a:ea typeface="微软雅黑"/>
              </a:rPr>
              <a:t>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2898648"/>
            <a:ext cx="2697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在此粘贴截图</a:t>
            </a:r>
          </a:p>
          <a:p>
            <a:pPr algn="ctr">
              <a:lnSpc>
                <a:spcPct val="108000"/>
              </a:lnSpc>
              <a:spcBef>
                <a:spcPts val="200"/>
              </a:spcBef>
              <a:spcAft>
                <a:spcPts val="400"/>
              </a:spcAft>
            </a:pPr>
            <a:r>
              <a:rPr sz="1100" b="0">
                <a:solidFill>
                  <a:srgbClr val="2F6FBF"/>
                </a:solidFill>
                <a:latin typeface="微软雅黑"/>
                <a:ea typeface="微软雅黑"/>
              </a:rPr>
              <a:t>标准成本台账（五色第一列）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3977639"/>
            <a:ext cx="6080760" cy="2103120"/>
          </a:xfrm>
          <a:prstGeom prst="roundRect">
            <a:avLst/>
          </a:prstGeom>
          <a:solidFill>
            <a:srgbClr val="FBFCFE"/>
          </a:solidFill>
          <a:ln w="1587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87568" y="4087368"/>
            <a:ext cx="5861304" cy="1883663"/>
          </a:xfrm>
          <a:prstGeom prst="roundRect">
            <a:avLst/>
          </a:prstGeom>
          <a:noFill/>
          <a:ln w="12700">
            <a:solidFill>
              <a:srgbClr val="ADB5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4526280"/>
            <a:ext cx="6080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ADB5BD"/>
                </a:solidFill>
                <a:latin typeface="微软雅黑"/>
                <a:ea typeface="微软雅黑"/>
              </a:rPr>
              <a:t>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5047488"/>
            <a:ext cx="5715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在此粘贴截图</a:t>
            </a:r>
          </a:p>
          <a:p>
            <a:pPr algn="ctr">
              <a:lnSpc>
                <a:spcPct val="108000"/>
              </a:lnSpc>
              <a:spcBef>
                <a:spcPts val="200"/>
              </a:spcBef>
              <a:spcAft>
                <a:spcPts val="400"/>
              </a:spcAft>
            </a:pPr>
            <a:r>
              <a:rPr sz="1100" b="0">
                <a:solidFill>
                  <a:srgbClr val="2F6FBF"/>
                </a:solidFill>
                <a:latin typeface="微软雅黑"/>
                <a:ea typeface="微软雅黑"/>
              </a:rPr>
              <a:t>台账搜索 / 状态切换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操作  · 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操作 · 第 ④ 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财务BP 终审：在核算工作台做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财务BP 到「标准成本台账 → ⚑ 终审」盖</a:t>
            </a:r>
            <a:r>
              <a:rPr sz="1200" b="1">
                <a:solidFill>
                  <a:srgbClr val="6F42C1"/>
                </a:solidFill>
                <a:latin typeface="微软雅黑"/>
                <a:ea typeface="微软雅黑"/>
              </a:rPr>
              <a:t>已审核戳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，或退回成本会计。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终审弹窗显示初审信息、不建议报价理由、本版通过后将替代哪些旧版。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入口在 BP，动作在核算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：BP 工作台放只读镜像 + 「有 N 条待你终审 → 去核算终审」。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• 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BP 侧看的是脱敏版；主管理员/授权人凭 full=1 原地看全量。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532120"/>
            <a:ext cx="4572000" cy="566928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557784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F42C1"/>
                </a:solidFill>
                <a:latin typeface="微软雅黑"/>
                <a:ea typeface="微软雅黑"/>
              </a:rPr>
              <a:t>● </a:t>
            </a:r>
            <a:r>
              <a:rPr sz="1050" b="0">
                <a:solidFill>
                  <a:srgbClr val="16243A"/>
                </a:solidFill>
                <a:latin typeface="微软雅黑"/>
                <a:ea typeface="微软雅黑"/>
              </a:rPr>
              <a:t>初审人不得自终审（主管理员例外，留痕「自审」）；只有终审版对外。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371600"/>
            <a:ext cx="6080760" cy="4754880"/>
          </a:xfrm>
          <a:prstGeom prst="roundRect">
            <a:avLst/>
          </a:prstGeom>
          <a:solidFill>
            <a:srgbClr val="FBFCFE"/>
          </a:solidFill>
          <a:ln w="1587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87568" y="1481328"/>
            <a:ext cx="5861304" cy="4535424"/>
          </a:xfrm>
          <a:prstGeom prst="roundRect">
            <a:avLst/>
          </a:prstGeom>
          <a:noFill/>
          <a:ln w="12700">
            <a:solidFill>
              <a:srgbClr val="ADB5B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3246120"/>
            <a:ext cx="6080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0">
                <a:solidFill>
                  <a:srgbClr val="ADB5BD"/>
                </a:solidFill>
                <a:latin typeface="微软雅黑"/>
                <a:ea typeface="微软雅黑"/>
              </a:rPr>
              <a:t>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3767327"/>
            <a:ext cx="5715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B7280"/>
                </a:solidFill>
                <a:latin typeface="微软雅黑"/>
                <a:ea typeface="微软雅黑"/>
              </a:rPr>
              <a:t>在此粘贴截图</a:t>
            </a:r>
          </a:p>
          <a:p>
            <a:pPr algn="ctr">
              <a:lnSpc>
                <a:spcPct val="108000"/>
              </a:lnSpc>
              <a:spcBef>
                <a:spcPts val="200"/>
              </a:spcBef>
              <a:spcAft>
                <a:spcPts val="400"/>
              </a:spcAft>
            </a:pPr>
            <a:r>
              <a:rPr sz="1100" b="0">
                <a:solidFill>
                  <a:srgbClr val="2F6FBF"/>
                </a:solidFill>
                <a:latin typeface="微软雅黑"/>
                <a:ea typeface="微软雅黑"/>
              </a:rPr>
              <a:t>标准台账 ⚑终审 弹窗 / BP 侧「待你终审」banner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操作  · 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一单从头到尾（贴墙版）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210312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F6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F6FBF"/>
                </a:solidFill>
                <a:latin typeface="微软雅黑"/>
                <a:ea typeface="微软雅黑"/>
              </a:rPr>
              <a:t>1 </a:t>
            </a: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立项/自动立项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0904" y="1700784"/>
            <a:ext cx="155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7208" y="1554480"/>
            <a:ext cx="210312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F6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7208" y="15544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F6FBF"/>
                </a:solidFill>
                <a:latin typeface="微软雅黑"/>
                <a:ea typeface="微软雅黑"/>
              </a:rPr>
              <a:t>2 </a:t>
            </a: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进处理页看组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01183" y="1700784"/>
            <a:ext cx="155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7488" y="1554480"/>
            <a:ext cx="210312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F6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7488" y="15544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F6FBF"/>
                </a:solidFill>
                <a:latin typeface="微软雅黑"/>
                <a:ea typeface="微软雅黑"/>
              </a:rPr>
              <a:t>3 </a:t>
            </a: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③用量自洽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1464" y="1700784"/>
            <a:ext cx="155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87768" y="1554480"/>
            <a:ext cx="210312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F6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87768" y="15544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F6FBF"/>
                </a:solidFill>
                <a:latin typeface="微软雅黑"/>
                <a:ea typeface="微软雅黑"/>
              </a:rPr>
              <a:t>4 </a:t>
            </a: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④核价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81744" y="1700784"/>
            <a:ext cx="155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28047" y="1554480"/>
            <a:ext cx="210312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F6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8047" y="1554480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F6FBF"/>
                </a:solidFill>
                <a:latin typeface="微软雅黑"/>
                <a:ea typeface="微软雅黑"/>
              </a:rPr>
              <a:t>5 </a:t>
            </a: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上游连线/指认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624328"/>
            <a:ext cx="210312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F6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624328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F6FBF"/>
                </a:solidFill>
                <a:latin typeface="微软雅黑"/>
                <a:ea typeface="微软雅黑"/>
              </a:rPr>
              <a:t>6 </a:t>
            </a: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审核定性(A/B/C)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60904" y="2770632"/>
            <a:ext cx="155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07208" y="2624328"/>
            <a:ext cx="210312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07208" y="2624328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32"/>
                </a:solidFill>
                <a:latin typeface="微软雅黑"/>
                <a:ea typeface="微软雅黑"/>
              </a:rPr>
              <a:t>7 </a:t>
            </a: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初审·盖戳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01183" y="2770632"/>
            <a:ext cx="155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47488" y="2624328"/>
            <a:ext cx="210312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F6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47488" y="2624328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F6FBF"/>
                </a:solidFill>
                <a:latin typeface="微软雅黑"/>
                <a:ea typeface="微软雅黑"/>
              </a:rPr>
              <a:t>8 </a:t>
            </a: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落公盘+导出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1464" y="2770632"/>
            <a:ext cx="155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7768" y="2624328"/>
            <a:ext cx="210312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F6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7768" y="2624328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F6FBF"/>
                </a:solidFill>
                <a:latin typeface="微软雅黑"/>
                <a:ea typeface="微软雅黑"/>
              </a:rPr>
              <a:t>9 </a:t>
            </a: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传回OA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1744" y="2770632"/>
            <a:ext cx="155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DB5B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28047" y="2624328"/>
            <a:ext cx="210312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28047" y="2624328"/>
            <a:ext cx="2103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F42C1"/>
                </a:solidFill>
                <a:latin typeface="微软雅黑"/>
                <a:ea typeface="微软雅黑"/>
              </a:rPr>
              <a:t>10 </a:t>
            </a:r>
            <a:r>
              <a:rPr sz="1150" b="1">
                <a:solidFill>
                  <a:srgbClr val="1F3A5F"/>
                </a:solidFill>
                <a:latin typeface="微软雅黑"/>
                <a:ea typeface="微软雅黑"/>
              </a:rPr>
              <a:t>BP终审·对外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566160"/>
            <a:ext cx="11064240" cy="2514600"/>
          </a:xfrm>
          <a:prstGeom prst="roundRect">
            <a:avLst/>
          </a:prstGeom>
          <a:solidFill>
            <a:srgbClr val="F2F6FB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703320"/>
            <a:ext cx="106070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A83529"/>
                </a:solidFill>
                <a:latin typeface="微软雅黑"/>
                <a:ea typeface="微软雅黑"/>
              </a:rPr>
              <a:t>记住四条红线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A83529"/>
                </a:solidFill>
                <a:latin typeface="微软雅黑"/>
                <a:ea typeface="微软雅黑"/>
              </a:rPr>
              <a:t>①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勾稽不平不入账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——能解释的小计漏行按明细重算并③确认，解释不了的退回研发/工厂改。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A83529"/>
                </a:solidFill>
                <a:latin typeface="微软雅黑"/>
                <a:ea typeface="微软雅黑"/>
              </a:rPr>
              <a:t>②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只有终审版对外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——初审版内部可见、绝不外发；改了成本必重审。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>
                <a:solidFill>
                  <a:srgbClr val="A83529"/>
                </a:solidFill>
                <a:latin typeface="微软雅黑"/>
                <a:ea typeface="微软雅黑"/>
              </a:rPr>
              <a:t>③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上游没定稿、连不上，本品定不了稿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——连不上就手动指认（同组候选）。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A83529"/>
                </a:solidFill>
                <a:latin typeface="微软雅黑"/>
                <a:ea typeface="微软雅黑"/>
              </a:rPr>
              <a:t>④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补录只免 BP 终审，不免初审、不免勾稽</a:t>
            </a:r>
            <a:r>
              <a:rPr sz="1200" b="0">
                <a:solidFill>
                  <a:srgbClr val="16243A"/>
                </a:solidFill>
                <a:latin typeface="微软雅黑"/>
                <a:ea typeface="微软雅黑"/>
              </a:rPr>
              <a:t>；金蝶/钉钉只读，不替人点同意。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速查  · 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28016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02336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常见问题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F3A5F"/>
                </a:solidFill>
                <a:latin typeface="微软雅黑"/>
                <a:ea typeface="微软雅黑"/>
              </a:rPr>
              <a:t>FAQ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106424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Q 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研发把成品和半成品起了同一个名，关联乱了怎么办？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37944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A  </a:t>
            </a:r>
            <a:r>
              <a:rPr sz="1080" b="0">
                <a:solidFill>
                  <a:srgbClr val="16243A"/>
                </a:solidFill>
                <a:latin typeface="微软雅黑"/>
                <a:ea typeface="微软雅黑"/>
              </a:rPr>
              <a:t>料行会标「撞名」、自动不连（宁可不连也不连错）。点该行「指认上游」从同组候选里选对应产品；或「改产品名」把名字改开。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86584"/>
            <a:ext cx="1106424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7802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Q 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台账里同一个成品出现两条（价不一样）？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7208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A  </a:t>
            </a:r>
            <a:r>
              <a:rPr sz="1080" b="0">
                <a:solidFill>
                  <a:srgbClr val="16243A"/>
                </a:solidFill>
                <a:latin typeface="微软雅黑"/>
                <a:ea typeface="微软雅黑"/>
              </a:rPr>
              <a:t>多半是这单有「财务复核」版。已改：以财务复核版入账一条，商务输出降为采购原始参考，不再双份。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355848"/>
            <a:ext cx="1106424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4728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Q 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初审通过了，为什么没收到落公盘的钉钉？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76472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A  </a:t>
            </a:r>
            <a:r>
              <a:rPr sz="1080" b="0">
                <a:solidFill>
                  <a:srgbClr val="16243A"/>
                </a:solidFill>
                <a:latin typeface="微软雅黑"/>
                <a:ea typeface="微软雅黑"/>
              </a:rPr>
              <a:t>落盘（服务器出文件）和送达通知（取件机搬到公盘后回报）是两段。要报表取件机跑新版脚本 + 配好收件人+钉钉，通知才发。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25112"/>
            <a:ext cx="1106424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416552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Q 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半成品初审了，公盘里怎么没有它的表？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745736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A  </a:t>
            </a:r>
            <a:r>
              <a:rPr sz="1080" b="0">
                <a:solidFill>
                  <a:srgbClr val="16243A"/>
                </a:solidFill>
                <a:latin typeface="微软雅黑"/>
                <a:ea typeface="微软雅黑"/>
              </a:rPr>
              <a:t>只有成品主动落盘；半成品/复配料已作为上游页打包在成品文件里，不单独落，属正常。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94376"/>
            <a:ext cx="1106424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38581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F6FBF"/>
                </a:solidFill>
                <a:latin typeface="微软雅黑"/>
                <a:ea typeface="微软雅黑"/>
              </a:rPr>
              <a:t>Q  </a:t>
            </a:r>
            <a:r>
              <a:rPr sz="1200" b="1">
                <a:solidFill>
                  <a:srgbClr val="1F3A5F"/>
                </a:solidFill>
                <a:latin typeface="微软雅黑"/>
                <a:ea typeface="微软雅黑"/>
              </a:rPr>
              <a:t>评论区补传的附件工具取不到？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7150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7D32"/>
                </a:solidFill>
                <a:latin typeface="微软雅黑"/>
                <a:ea typeface="微软雅黑"/>
              </a:rPr>
              <a:t>A  </a:t>
            </a:r>
            <a:r>
              <a:rPr sz="1080" b="0">
                <a:solidFill>
                  <a:srgbClr val="16243A"/>
                </a:solidFill>
                <a:latin typeface="微软雅黑"/>
                <a:ea typeface="微软雅黑"/>
              </a:rPr>
              <a:t>钉钉官方不给评论区附件的下载接口——工具会显性列出，请从 OA 后台下载后手工上传。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56248"/>
            <a:ext cx="7315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微软雅黑"/>
                <a:ea typeface="微软雅黑"/>
              </a:rPr>
              <a:t>BOM报价审核工具 · 操作指引（图解版）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5615" y="6556248"/>
            <a:ext cx="24231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C7D3E6"/>
                </a:solidFill>
                <a:latin typeface="微软雅黑"/>
                <a:ea typeface="微软雅黑"/>
              </a:rPr>
              <a:t>FAQ  · 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跟着流程走，</a:t>
            </a:r>
            <a:r>
              <a:rPr sz="3000" b="1">
                <a:solidFill>
                  <a:srgbClr val="9DC3E6"/>
                </a:solidFill>
                <a:latin typeface="微软雅黑"/>
                <a:ea typeface="微软雅黑"/>
              </a:rPr>
              <a:t>人只处理判断和例外。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3832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C7D3E6"/>
                </a:solidFill>
                <a:latin typeface="微软雅黑"/>
                <a:ea typeface="微软雅黑"/>
              </a:rPr>
              <a:t>勾稽不平先退回改 · 连不上就指认上游 · 只有终审版对外 · 只有成品主动落盘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5029200"/>
            <a:ext cx="2926080" cy="45720"/>
          </a:xfrm>
          <a:prstGeom prst="rect">
            <a:avLst/>
          </a:prstGeom>
          <a:solidFill>
            <a:srgbClr val="2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FBED6"/>
                </a:solidFill>
                <a:latin typeface="微软雅黑"/>
                <a:ea typeface="微软雅黑"/>
              </a:rPr>
              <a:t>BOM报价审核工具 · 操作指引（图解版） ｜ 财务核算工作台 ｜ V2.548 ｜ 2026-09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