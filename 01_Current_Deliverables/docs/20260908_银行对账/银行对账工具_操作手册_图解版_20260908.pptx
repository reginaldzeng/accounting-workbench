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银行对账工具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3246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操作手册 · 图解版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59536" y="4160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财务核算工作台 · 工具#1   ｜   核算组使用   ｜   2026-09   ｜   V2.527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9536" y="5257800"/>
            <a:ext cx="1874520" cy="502920"/>
          </a:xfrm>
          <a:prstGeom prst="roundRect">
            <a:avLst>
              <a:gd name="adj" fmla="val 18182"/>
            </a:avLst>
          </a:prstGeom>
          <a:solidFill>
            <a:srgbClr val="2C3573"/>
          </a:solidFill>
          <a:ln w="12700">
            <a:solidFill>
              <a:srgbClr val="4C5F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5257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 数据接入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34056" y="52578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08376" y="5257800"/>
            <a:ext cx="1874520" cy="502920"/>
          </a:xfrm>
          <a:prstGeom prst="roundRect">
            <a:avLst>
              <a:gd name="adj" fmla="val 18182"/>
            </a:avLst>
          </a:prstGeom>
          <a:solidFill>
            <a:srgbClr val="2C3573"/>
          </a:solidFill>
          <a:ln w="12700">
            <a:solidFill>
              <a:srgbClr val="4C5FD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08376" y="5257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 逐笔稽核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82896" y="52578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57216" y="5257800"/>
            <a:ext cx="1874520" cy="502920"/>
          </a:xfrm>
          <a:prstGeom prst="roundRect">
            <a:avLst>
              <a:gd name="adj" fmla="val 18182"/>
            </a:avLst>
          </a:prstGeom>
          <a:solidFill>
            <a:srgbClr val="2C3573"/>
          </a:solidFill>
          <a:ln w="12700">
            <a:solidFill>
              <a:srgbClr val="4C5FD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57216" y="5257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 余额调节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31736" y="52578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06056" y="5257800"/>
            <a:ext cx="1874520" cy="502920"/>
          </a:xfrm>
          <a:prstGeom prst="roundRect">
            <a:avLst>
              <a:gd name="adj" fmla="val 18182"/>
            </a:avLst>
          </a:prstGeom>
          <a:solidFill>
            <a:srgbClr val="2C3573"/>
          </a:solidFill>
          <a:ln w="12700">
            <a:solidFill>
              <a:srgbClr val="4C5FD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06056" y="5257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 结果出具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四步主线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804672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页面顶部的步骤条始终跟着你走；后面每页配真实截图讲重点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2286000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002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数据接入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832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让银行流水进来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一键接金蝶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2011680"/>
            <a:ext cx="274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29000" y="201168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2286000"/>
            <a:ext cx="457200" cy="457200"/>
          </a:xfrm>
          <a:prstGeom prst="ellipse">
            <a:avLst/>
          </a:prstGeom>
          <a:solidFill>
            <a:srgbClr val="D549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05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逐笔稽核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3832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看每笔结论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优先核疑似漏账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011680"/>
            <a:ext cx="274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309360" y="201168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60920" y="2286000"/>
            <a:ext cx="457200" cy="457200"/>
          </a:xfrm>
          <a:prstGeom prst="ellipse">
            <a:avLst/>
          </a:prstGeom>
          <a:solidFill>
            <a:srgbClr val="C77D1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609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余额调节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3832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全科目调节表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差额调平/亮红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2011680"/>
            <a:ext cx="274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189720" y="201168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241280" y="2286000"/>
            <a:ext cx="457200" cy="45720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2412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结果出具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372600" y="33832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可信度报告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导出差异清单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212080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优先原则：疑似漏账（银行付了/收了、金蝶没做账）永远排最前，先看它。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① 步 · 数据接入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804672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出纳把流水存共享盘→取件机每小时自动接入；应急可手工上传。接入后点「一键接入金蝶」取数。</a:t>
            </a:r>
            <a:endParaRPr lang="en-US" sz="1250" dirty="0"/>
          </a:p>
        </p:txBody>
      </p:sp>
      <p:pic>
        <p:nvPicPr>
          <p:cNvPr id="4" name="Image 0" descr="C:/Users/94899/AppData/Local/Temp/claude/D--0-Claude----03----------claude-worktrees-laughing-hodgkin-6aef4a/562b393a-bdbf-4161-b55c-de035cb93d30/scratchpad/shots/531affac3f34799246e504b94c24c17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70432"/>
            <a:ext cx="8138160" cy="48574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170432"/>
            <a:ext cx="8138160" cy="4857464"/>
          </a:xfrm>
          <a:prstGeom prst="rect">
            <a:avLst/>
          </a:prstGeom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35735" y="3757825"/>
            <a:ext cx="1383487" cy="146456"/>
          </a:xfrm>
          <a:prstGeom prst="roundRect">
            <a:avLst>
              <a:gd name="adj" fmla="val 18731"/>
            </a:avLst>
          </a:prstGeom>
          <a:solidFill>
            <a:srgbClr val="1F9D6B">
              <a:alpha val="0"/>
            </a:srgbClr>
          </a:solidFill>
          <a:ln w="31750">
            <a:solidFill>
              <a:srgbClr val="1F9D6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26007" y="3648097"/>
            <a:ext cx="274320" cy="27432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26007" y="364809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541697" y="3741552"/>
            <a:ext cx="569671" cy="170866"/>
          </a:xfrm>
          <a:prstGeom prst="roundRect">
            <a:avLst>
              <a:gd name="adj" fmla="val 16055"/>
            </a:avLst>
          </a:prstGeom>
          <a:solidFill>
            <a:srgbClr val="4C5FD5">
              <a:alpha val="0"/>
            </a:srgbClr>
          </a:solidFill>
          <a:ln w="31750">
            <a:solidFill>
              <a:srgbClr val="4C5FD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31969" y="3631824"/>
            <a:ext cx="274320" cy="274320"/>
          </a:xfrm>
          <a:prstGeom prst="ellipse">
            <a:avLst/>
          </a:prstGeom>
          <a:solidFill>
            <a:srgbClr val="4C5F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31969" y="3631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600840" y="4270422"/>
            <a:ext cx="1302106" cy="138320"/>
          </a:xfrm>
          <a:prstGeom prst="roundRect">
            <a:avLst>
              <a:gd name="adj" fmla="val 19832"/>
            </a:avLst>
          </a:prstGeom>
          <a:solidFill>
            <a:srgbClr val="C77D18">
              <a:alpha val="0"/>
            </a:srgbClr>
          </a:solidFill>
          <a:ln w="31750">
            <a:solidFill>
              <a:srgbClr val="C77D1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91112" y="4160694"/>
            <a:ext cx="274320" cy="274320"/>
          </a:xfrm>
          <a:prstGeom prst="ellipse">
            <a:avLst/>
          </a:prstGeom>
          <a:solidFill>
            <a:srgbClr val="C77D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491112" y="416069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956837" y="2655335"/>
            <a:ext cx="915543" cy="105774"/>
          </a:xfrm>
          <a:prstGeom prst="roundRect">
            <a:avLst>
              <a:gd name="adj" fmla="val 25935"/>
            </a:avLst>
          </a:prstGeom>
          <a:solidFill>
            <a:srgbClr val="D5493A">
              <a:alpha val="0"/>
            </a:srgbClr>
          </a:solidFill>
          <a:ln w="31750">
            <a:solidFill>
              <a:srgbClr val="D5493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47109" y="2545607"/>
            <a:ext cx="274320" cy="274320"/>
          </a:xfrm>
          <a:prstGeom prst="ellipse">
            <a:avLst/>
          </a:prstGeom>
          <a:solidFill>
            <a:srgbClr val="D549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847109" y="254560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519458" y="4892861"/>
            <a:ext cx="2278685" cy="439369"/>
          </a:xfrm>
          <a:prstGeom prst="roundRect">
            <a:avLst>
              <a:gd name="adj" fmla="val 6243"/>
            </a:avLst>
          </a:prstGeom>
          <a:solidFill>
            <a:srgbClr val="4C5FD5">
              <a:alpha val="0"/>
            </a:srgbClr>
          </a:solidFill>
          <a:ln w="31750">
            <a:solidFill>
              <a:srgbClr val="4C5FD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409730" y="4783133"/>
            <a:ext cx="274320" cy="274320"/>
          </a:xfrm>
          <a:prstGeom prst="ellipse">
            <a:avLst/>
          </a:prstGeom>
          <a:solidFill>
            <a:srgbClr val="4C5F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409730" y="478313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732520" y="1207008"/>
            <a:ext cx="310896" cy="310896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732520" y="1207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0" y="1170432"/>
            <a:ext cx="2724912" cy="9257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取件机·在跑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每小时自动扫共享盘接入；红灯=停机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732520" y="2178501"/>
            <a:ext cx="310896" cy="310896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732520" y="217850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0" y="2141925"/>
            <a:ext cx="2724912" cy="9257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立即扫描共享盘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临时更新了共享盘，点它马上重扫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732520" y="3149994"/>
            <a:ext cx="310896" cy="310896"/>
          </a:xfrm>
          <a:prstGeom prst="ellipse">
            <a:avLst/>
          </a:prstGeom>
          <a:solidFill>
            <a:srgbClr val="C77D18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732520" y="31499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144000" y="3113418"/>
            <a:ext cx="2724912" cy="9257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停机钉钉告警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停了自动发钉钉给指定人（可设收件人）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732520" y="4121487"/>
            <a:ext cx="310896" cy="310896"/>
          </a:xfrm>
          <a:prstGeom prst="ellipse">
            <a:avLst/>
          </a:prstGeom>
          <a:solidFill>
            <a:srgbClr val="D5493A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732520" y="412148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9144000" y="4084911"/>
            <a:ext cx="2724912" cy="9257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财资重复·待确认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多份财资导出：逐条核对后点确认、留痕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732520" y="5092979"/>
            <a:ext cx="310896" cy="310896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732520" y="50929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9144000" y="5056403"/>
            <a:ext cx="2724912" cy="9257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财资多份·自动归并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取最全那份并入、重复的去掉，不重复记账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② 步 · 逐笔稽核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804672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每笔银行流水恰归一类，按类去核；点每行「看详情」可下钻到配对的金蝶凭证。</a:t>
            </a:r>
            <a:endParaRPr lang="en-US" sz="1250" dirty="0"/>
          </a:p>
        </p:txBody>
      </p:sp>
      <p:pic>
        <p:nvPicPr>
          <p:cNvPr id="4" name="Image 0" descr="C:/Users/94899/AppData/Local/Temp/claude/D--0-Claude----03----------claude-worktrees-laughing-hodgkin-6aef4a/562b393a-bdbf-4161-b55c-de035cb93d30/scratchpad/shots/cf38dd59a89bf5562263de54ce800dd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70432"/>
            <a:ext cx="8138160" cy="48574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170432"/>
            <a:ext cx="8138160" cy="4857464"/>
          </a:xfrm>
          <a:prstGeom prst="rect">
            <a:avLst/>
          </a:prstGeom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15389" y="2553630"/>
            <a:ext cx="2115922" cy="162729"/>
          </a:xfrm>
          <a:prstGeom prst="roundRect">
            <a:avLst>
              <a:gd name="adj" fmla="val 16857"/>
            </a:avLst>
          </a:prstGeom>
          <a:solidFill>
            <a:srgbClr val="1F9D6B">
              <a:alpha val="0"/>
            </a:srgbClr>
          </a:solidFill>
          <a:ln w="31750">
            <a:solidFill>
              <a:srgbClr val="1F9D6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05661" y="2443902"/>
            <a:ext cx="274320" cy="27432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05661" y="244390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154235" y="2838405"/>
            <a:ext cx="480151" cy="276640"/>
          </a:xfrm>
          <a:prstGeom prst="roundRect">
            <a:avLst>
              <a:gd name="adj" fmla="val 9916"/>
            </a:avLst>
          </a:prstGeom>
          <a:solidFill>
            <a:srgbClr val="D5493A">
              <a:alpha val="0"/>
            </a:srgbClr>
          </a:solidFill>
          <a:ln w="31750">
            <a:solidFill>
              <a:srgbClr val="D549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44507" y="2728677"/>
            <a:ext cx="274320" cy="274320"/>
          </a:xfrm>
          <a:prstGeom prst="ellipse">
            <a:avLst/>
          </a:prstGeom>
          <a:solidFill>
            <a:srgbClr val="D549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044507" y="272867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36374" y="2838405"/>
            <a:ext cx="480151" cy="276640"/>
          </a:xfrm>
          <a:prstGeom prst="roundRect">
            <a:avLst>
              <a:gd name="adj" fmla="val 9916"/>
            </a:avLst>
          </a:prstGeom>
          <a:solidFill>
            <a:srgbClr val="C77D18">
              <a:alpha val="0"/>
            </a:srgbClr>
          </a:solidFill>
          <a:ln w="31750">
            <a:solidFill>
              <a:srgbClr val="C77D1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26646" y="2728677"/>
            <a:ext cx="274320" cy="274320"/>
          </a:xfrm>
          <a:prstGeom prst="ellipse">
            <a:avLst/>
          </a:prstGeom>
          <a:solidFill>
            <a:srgbClr val="C77D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26646" y="272867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91874" y="2838405"/>
            <a:ext cx="480151" cy="276640"/>
          </a:xfrm>
          <a:prstGeom prst="roundRect">
            <a:avLst>
              <a:gd name="adj" fmla="val 9916"/>
            </a:avLst>
          </a:prstGeom>
          <a:solidFill>
            <a:srgbClr val="C77D18">
              <a:alpha val="0"/>
            </a:srgbClr>
          </a:solidFill>
          <a:ln w="31750">
            <a:solidFill>
              <a:srgbClr val="C77D1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82146" y="2728677"/>
            <a:ext cx="274320" cy="274320"/>
          </a:xfrm>
          <a:prstGeom prst="ellipse">
            <a:avLst/>
          </a:prstGeom>
          <a:solidFill>
            <a:srgbClr val="C77D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82146" y="272867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728875" y="2838405"/>
            <a:ext cx="455737" cy="276640"/>
          </a:xfrm>
          <a:prstGeom prst="roundRect">
            <a:avLst>
              <a:gd name="adj" fmla="val 9916"/>
            </a:avLst>
          </a:prstGeom>
          <a:solidFill>
            <a:srgbClr val="1F9D6B">
              <a:alpha val="0"/>
            </a:srgbClr>
          </a:solidFill>
          <a:ln w="31750">
            <a:solidFill>
              <a:srgbClr val="1F9D6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19147" y="2728677"/>
            <a:ext cx="274320" cy="27432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619147" y="272867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732520" y="1207008"/>
            <a:ext cx="310896" cy="310896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732520" y="1207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0" y="1170432"/>
            <a:ext cx="2724912" cy="9257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可信度勾稽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三道自检，通过=本次结果可信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732520" y="2178501"/>
            <a:ext cx="310896" cy="310896"/>
          </a:xfrm>
          <a:prstGeom prst="ellipse">
            <a:avLst/>
          </a:prstGeom>
          <a:solidFill>
            <a:srgbClr val="D5493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732520" y="217850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0" y="2141925"/>
            <a:ext cx="2724912" cy="9257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疑似漏账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★最优先：银行有、金蝶没做账，去补账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732520" y="3149994"/>
            <a:ext cx="310896" cy="310896"/>
          </a:xfrm>
          <a:prstGeom prst="ellipse">
            <a:avLst/>
          </a:prstGeom>
          <a:solidFill>
            <a:srgbClr val="C77D18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732520" y="31499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144000" y="3113418"/>
            <a:ext cx="2724912" cy="9257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账户缺数据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整户金蝶本期没数据，去确认/补记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732520" y="4121487"/>
            <a:ext cx="310896" cy="310896"/>
          </a:xfrm>
          <a:prstGeom prst="ellipse">
            <a:avLst/>
          </a:prstGeom>
          <a:solidFill>
            <a:srgbClr val="C77D18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732520" y="412148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9144000" y="4084911"/>
            <a:ext cx="2724912" cy="9257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晚记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金蝶入账比银行晚，重点看跨月的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732520" y="5092979"/>
            <a:ext cx="310896" cy="310896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732520" y="50929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9144000" y="5056403"/>
            <a:ext cx="2724912" cy="9257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已匹配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全对上，已核、不用管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③ 步 · 余额调节表（全科目）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804672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对标《各银行余额》：能被未达账项解释的调平成 0，真差异亮红并指明往哪查。</a:t>
            </a:r>
            <a:endParaRPr lang="en-US" sz="1250" dirty="0"/>
          </a:p>
        </p:txBody>
      </p:sp>
      <p:pic>
        <p:nvPicPr>
          <p:cNvPr id="4" name="Image 0" descr="C:/Users/94899/AppData/Local/Temp/claude/D--0-Claude----03----------claude-worktrees-laughing-hodgkin-6aef4a/562b393a-bdbf-4161-b55c-de035cb93d30/scratchpad/shots/7d2824c7dcb17fa2517bbb4d86c819b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70432"/>
            <a:ext cx="8138160" cy="48574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170432"/>
            <a:ext cx="8138160" cy="4857464"/>
          </a:xfrm>
          <a:prstGeom prst="rect">
            <a:avLst/>
          </a:prstGeom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56080" y="2683813"/>
            <a:ext cx="590017" cy="130183"/>
          </a:xfrm>
          <a:prstGeom prst="roundRect">
            <a:avLst>
              <a:gd name="adj" fmla="val 21072"/>
            </a:avLst>
          </a:prstGeom>
          <a:solidFill>
            <a:srgbClr val="4C5FD5">
              <a:alpha val="0"/>
            </a:srgbClr>
          </a:solidFill>
          <a:ln w="31750">
            <a:solidFill>
              <a:srgbClr val="4C5FD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6352" y="2574085"/>
            <a:ext cx="274320" cy="274320"/>
          </a:xfrm>
          <a:prstGeom prst="ellipse">
            <a:avLst/>
          </a:prstGeom>
          <a:solidFill>
            <a:srgbClr val="4C5F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46352" y="257408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71032" y="3346934"/>
            <a:ext cx="447599" cy="1281492"/>
          </a:xfrm>
          <a:prstGeom prst="roundRect">
            <a:avLst>
              <a:gd name="adj" fmla="val 6129"/>
            </a:avLst>
          </a:prstGeom>
          <a:solidFill>
            <a:srgbClr val="4C5FD5">
              <a:alpha val="0"/>
            </a:srgbClr>
          </a:solidFill>
          <a:ln w="31750">
            <a:solidFill>
              <a:srgbClr val="4C5FD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61304" y="3237206"/>
            <a:ext cx="274320" cy="274320"/>
          </a:xfrm>
          <a:prstGeom prst="ellipse">
            <a:avLst/>
          </a:prstGeom>
          <a:solidFill>
            <a:srgbClr val="4C5F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61304" y="323720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22085" y="3660188"/>
            <a:ext cx="467944" cy="130183"/>
          </a:xfrm>
          <a:prstGeom prst="roundRect">
            <a:avLst>
              <a:gd name="adj" fmla="val 21072"/>
            </a:avLst>
          </a:prstGeom>
          <a:solidFill>
            <a:srgbClr val="1F9D6B">
              <a:alpha val="0"/>
            </a:srgbClr>
          </a:solidFill>
          <a:ln w="31750">
            <a:solidFill>
              <a:srgbClr val="1F9D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12357" y="3550460"/>
            <a:ext cx="274320" cy="27432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12357" y="35504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13947" y="3456776"/>
            <a:ext cx="549326" cy="162729"/>
          </a:xfrm>
          <a:prstGeom prst="roundRect">
            <a:avLst>
              <a:gd name="adj" fmla="val 16857"/>
            </a:avLst>
          </a:prstGeom>
          <a:solidFill>
            <a:srgbClr val="D5493A">
              <a:alpha val="0"/>
            </a:srgbClr>
          </a:solidFill>
          <a:ln w="31750">
            <a:solidFill>
              <a:srgbClr val="D5493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04219" y="3347048"/>
            <a:ext cx="274320" cy="274320"/>
          </a:xfrm>
          <a:prstGeom prst="ellipse">
            <a:avLst/>
          </a:prstGeom>
          <a:solidFill>
            <a:srgbClr val="D549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04219" y="3347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47493" y="2992998"/>
            <a:ext cx="374355" cy="138320"/>
          </a:xfrm>
          <a:prstGeom prst="roundRect">
            <a:avLst>
              <a:gd name="adj" fmla="val 19832"/>
            </a:avLst>
          </a:prstGeom>
          <a:solidFill>
            <a:srgbClr val="6B7280">
              <a:alpha val="0"/>
            </a:srgbClr>
          </a:solidFill>
          <a:ln w="31750">
            <a:solidFill>
              <a:srgbClr val="6B728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537765" y="2883270"/>
            <a:ext cx="274320" cy="27432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37765" y="288327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732520" y="1207008"/>
            <a:ext cx="310896" cy="310896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732520" y="1207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0" y="1170432"/>
            <a:ext cx="2724912" cy="9257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全科目调节表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库存现金/银行存款/理财/其他货币 逐户对差额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732520" y="2178501"/>
            <a:ext cx="310896" cy="310896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732520" y="217850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0" y="2141925"/>
            <a:ext cx="2724912" cy="9257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未达调节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逐笔稽核推的未达账项（如内部往来未做账）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732520" y="3149994"/>
            <a:ext cx="310896" cy="310896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732520" y="31499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144000" y="3113418"/>
            <a:ext cx="2724912" cy="9257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调节后=0 ✓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能被未达解释的，调平、账实相符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732520" y="4121487"/>
            <a:ext cx="310896" cy="310896"/>
          </a:xfrm>
          <a:prstGeom prst="ellipse">
            <a:avLst/>
          </a:prstGeom>
          <a:solidFill>
            <a:srgbClr val="D5493A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732520" y="412148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9144000" y="4084911"/>
            <a:ext cx="2724912" cy="9257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亮红=真差异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旁标『本月差异/流水不平』，直接指方向查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732520" y="5092979"/>
            <a:ext cx="310896" cy="31089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732520" y="50929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9144000" y="5056403"/>
            <a:ext cx="2724912" cy="9257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 Excel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导出单月调节表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账户台账（匹配地基）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804672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从金蝶自动同步；开户日期、稽核方案、失效为手工维护。</a:t>
            </a:r>
            <a:endParaRPr lang="en-US" sz="1250" dirty="0"/>
          </a:p>
        </p:txBody>
      </p:sp>
      <p:pic>
        <p:nvPicPr>
          <p:cNvPr id="4" name="Image 0" descr="C:/Users/94899/AppData/Local/Temp/claude/D--0-Claude----03----------claude-worktrees-laughing-hodgkin-6aef4a/562b393a-bdbf-4161-b55c-de035cb93d30/scratchpad/shots/70f9e099e9e0f6242b4c92d08e6da0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70432"/>
            <a:ext cx="8138160" cy="48574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170432"/>
            <a:ext cx="8138160" cy="4857464"/>
          </a:xfrm>
          <a:prstGeom prst="rect">
            <a:avLst/>
          </a:prstGeom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67696" y="3399821"/>
            <a:ext cx="480151" cy="1220468"/>
          </a:xfrm>
          <a:prstGeom prst="roundRect">
            <a:avLst>
              <a:gd name="adj" fmla="val 5713"/>
            </a:avLst>
          </a:prstGeom>
          <a:solidFill>
            <a:srgbClr val="4C5FD5">
              <a:alpha val="0"/>
            </a:srgbClr>
          </a:solidFill>
          <a:ln w="31750">
            <a:solidFill>
              <a:srgbClr val="4C5FD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957968" y="3290093"/>
            <a:ext cx="274320" cy="274320"/>
          </a:xfrm>
          <a:prstGeom prst="ellipse">
            <a:avLst/>
          </a:prstGeom>
          <a:solidFill>
            <a:srgbClr val="4C5F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957968" y="32900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22203" y="3399821"/>
            <a:ext cx="366217" cy="1220468"/>
          </a:xfrm>
          <a:prstGeom prst="roundRect">
            <a:avLst>
              <a:gd name="adj" fmla="val 7491"/>
            </a:avLst>
          </a:prstGeom>
          <a:solidFill>
            <a:srgbClr val="C77D18">
              <a:alpha val="0"/>
            </a:srgbClr>
          </a:solidFill>
          <a:ln w="31750">
            <a:solidFill>
              <a:srgbClr val="C77D1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12475" y="3290093"/>
            <a:ext cx="274320" cy="274320"/>
          </a:xfrm>
          <a:prstGeom prst="ellipse">
            <a:avLst/>
          </a:prstGeom>
          <a:solidFill>
            <a:srgbClr val="C77D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12475" y="32900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474699" y="2301399"/>
            <a:ext cx="6795364" cy="284776"/>
          </a:xfrm>
          <a:prstGeom prst="roundRect">
            <a:avLst>
              <a:gd name="adj" fmla="val 9633"/>
            </a:avLst>
          </a:prstGeom>
          <a:solidFill>
            <a:srgbClr val="1F9D6B">
              <a:alpha val="0"/>
            </a:srgbClr>
          </a:solidFill>
          <a:ln w="31750">
            <a:solidFill>
              <a:srgbClr val="1F9D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64971" y="2191671"/>
            <a:ext cx="274320" cy="27432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364971" y="219167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898782" y="3399821"/>
            <a:ext cx="374355" cy="1220468"/>
          </a:xfrm>
          <a:prstGeom prst="roundRect">
            <a:avLst>
              <a:gd name="adj" fmla="val 7328"/>
            </a:avLst>
          </a:prstGeom>
          <a:solidFill>
            <a:srgbClr val="D5493A">
              <a:alpha val="0"/>
            </a:srgbClr>
          </a:solidFill>
          <a:ln w="31750">
            <a:solidFill>
              <a:srgbClr val="D5493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89054" y="3290093"/>
            <a:ext cx="274320" cy="274320"/>
          </a:xfrm>
          <a:prstGeom prst="ellipse">
            <a:avLst/>
          </a:prstGeom>
          <a:solidFill>
            <a:srgbClr val="D549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89054" y="32900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732520" y="1207008"/>
            <a:ext cx="310896" cy="310896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32520" y="1207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0" y="1170432"/>
            <a:ext cx="2724912" cy="11686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开户日期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在此填一次、跨期记住，余额调节表自动引用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732520" y="2421374"/>
            <a:ext cx="310896" cy="310896"/>
          </a:xfrm>
          <a:prstGeom prst="ellipse">
            <a:avLst/>
          </a:prstGeom>
          <a:solidFill>
            <a:srgbClr val="C77D1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732520" y="24213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0" y="2384798"/>
            <a:ext cx="2724912" cy="11686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稽核方案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明细=走逐笔稽核 / 余额=只需金蝶余额对上银行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732520" y="3635740"/>
            <a:ext cx="310896" cy="310896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732520" y="36357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0" y="3599164"/>
            <a:ext cx="2724912" cy="11686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账户家底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总153 · 银行95(进匹配桥) · 理财40 · 电商18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732520" y="4850106"/>
            <a:ext cx="310896" cy="310896"/>
          </a:xfrm>
          <a:prstGeom prst="ellipse">
            <a:avLst/>
          </a:prstGeom>
          <a:solidFill>
            <a:srgbClr val="D5493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732520" y="48501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144000" y="4813530"/>
            <a:ext cx="2724912" cy="11686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标记失效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手工停用账户（金蝶不维护此步）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④ 步 · 结果出具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804672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三道勾稽全过才算可信，一键导出对账底稿交人工/上报。</a:t>
            </a:r>
            <a:endParaRPr lang="en-US" sz="1250" dirty="0"/>
          </a:p>
        </p:txBody>
      </p:sp>
      <p:pic>
        <p:nvPicPr>
          <p:cNvPr id="4" name="Image 0" descr="C:/Users/94899/AppData/Local/Temp/claude/D--0-Claude----03----------claude-worktrees-laughing-hodgkin-6aef4a/562b393a-bdbf-4161-b55c-de035cb93d30/scratchpad/shots/03255f1516c769692d67035ff6bb27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70432"/>
            <a:ext cx="8138160" cy="48574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170432"/>
            <a:ext cx="8138160" cy="4857464"/>
          </a:xfrm>
          <a:prstGeom prst="rect">
            <a:avLst/>
          </a:prstGeom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35735" y="2696018"/>
            <a:ext cx="3824935" cy="374277"/>
          </a:xfrm>
          <a:prstGeom prst="roundRect">
            <a:avLst>
              <a:gd name="adj" fmla="val 7329"/>
            </a:avLst>
          </a:prstGeom>
          <a:solidFill>
            <a:srgbClr val="4C5FD5">
              <a:alpha val="0"/>
            </a:srgbClr>
          </a:solidFill>
          <a:ln w="31750">
            <a:solidFill>
              <a:srgbClr val="4C5FD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26007" y="2586290"/>
            <a:ext cx="274320" cy="274320"/>
          </a:xfrm>
          <a:prstGeom prst="ellipse">
            <a:avLst/>
          </a:prstGeom>
          <a:solidFill>
            <a:srgbClr val="4C5F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26007" y="258629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515389" y="3294047"/>
            <a:ext cx="3377336" cy="105774"/>
          </a:xfrm>
          <a:prstGeom prst="roundRect">
            <a:avLst>
              <a:gd name="adj" fmla="val 25935"/>
            </a:avLst>
          </a:prstGeom>
          <a:solidFill>
            <a:srgbClr val="6B7280">
              <a:alpha val="0"/>
            </a:srgbClr>
          </a:solidFill>
          <a:ln w="31750">
            <a:solidFill>
              <a:srgbClr val="6B72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05661" y="3184319"/>
            <a:ext cx="274320" cy="27432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405661" y="318431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543873" y="3416094"/>
            <a:ext cx="699882" cy="170866"/>
          </a:xfrm>
          <a:prstGeom prst="roundRect">
            <a:avLst>
              <a:gd name="adj" fmla="val 16055"/>
            </a:avLst>
          </a:prstGeom>
          <a:solidFill>
            <a:srgbClr val="1F9D6B">
              <a:alpha val="0"/>
            </a:srgbClr>
          </a:solidFill>
          <a:ln w="31750">
            <a:solidFill>
              <a:srgbClr val="1F9D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34145" y="3306366"/>
            <a:ext cx="274320" cy="27432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434145" y="330636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732520" y="1207008"/>
            <a:ext cx="310896" cy="310896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732520" y="1207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0" y="1170432"/>
            <a:ext cx="2724912" cy="15734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本期成绩单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待处理差异 / 已匹配 / 余额调节对平 / 不平户数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732520" y="2826163"/>
            <a:ext cx="310896" cy="31089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32520" y="282616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0" y="2789587"/>
            <a:ext cx="2724912" cy="15734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含 4 张表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对账汇总·差异清单·银行存款余额调节表·全部逐笔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732520" y="4445318"/>
            <a:ext cx="310896" cy="310896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732520" y="444531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0" y="4408742"/>
            <a:ext cx="2724912" cy="15734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一键导出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导出对账底稿 Excel，可直接存档或上报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每月标准流程（速查）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10698480" cy="685800"/>
          </a:xfrm>
          <a:prstGeom prst="roundRect">
            <a:avLst>
              <a:gd name="adj" fmla="val 12000"/>
            </a:avLst>
          </a:prstGeom>
          <a:solidFill>
            <a:srgbClr val="EEF1FA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4173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选对会计期间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258568"/>
            <a:ext cx="106984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368296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368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2585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确认流水已接入：绿灯在跑 / 或手工上传；遇财资重复弹窗→逐条核对→确认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3099816"/>
            <a:ext cx="106984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209544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099816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点「一键接入金蝶」取数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3941064"/>
            <a:ext cx="106984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4050792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3941064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逐笔稽核：先核疑似漏账，再做错/晚记，顺带看组合/疑记错户/内部往来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4782312"/>
            <a:ext cx="106984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892040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4782312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余额调节：看调节后差额，亮红的按「差异归属」去查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31520" y="5623560"/>
            <a:ext cx="106984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733288"/>
            <a:ext cx="457200" cy="457200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0120" y="5733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645920" y="56235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 结果出具：确认三道勾稽全过 → 导出对账底稿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常见问题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44475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出纳换了压缩格式/改了文件名，会漏吗？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810512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D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 </a:t>
            </a:r>
            <a:pPr indent="0" marL="0">
              <a:buNone/>
            </a:pPr>
            <a:r>
              <a:rPr lang="en-US" sz="12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不会。靠表头内容认单据、不靠文件名；.rar（含加密）也能解。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359152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3230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状态卡红了怎么办？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98064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D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 </a:t>
            </a:r>
            <a:pPr indent="0" marL="0">
              <a:buNone/>
            </a:pPr>
            <a:r>
              <a:rPr lang="en-US" sz="12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取件机停了。联系管理员查内网电脑/任务；期间手工上传兜底。配了钉钉告警会先收到提醒。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346704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419856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自动接入会覆盖我手工传的吗？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785616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D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 </a:t>
            </a:r>
            <a:pPr indent="0" marL="0">
              <a:buNone/>
            </a:pPr>
            <a:r>
              <a:rPr lang="en-US" sz="12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不会。本期已有手工数据时自动推只暂存不覆盖；也照打重复确认弹窗、不自动确认。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334256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40740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金蝶会被改吗？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773168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D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 </a:t>
            </a:r>
            <a:pPr indent="0" marL="0">
              <a:buNone/>
            </a:pPr>
            <a:r>
              <a:rPr lang="en-US" sz="12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不会。全程只读。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321808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5F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调节后差额亮红、金额很大？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760720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D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 </a:t>
            </a:r>
            <a:pPr indent="0" marL="0">
              <a:buNone/>
            </a:pPr>
            <a:r>
              <a:rPr lang="en-US" sz="1250" dirty="0">
                <a:solidFill>
                  <a:srgbClr val="2B2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先看『差异归属』：本月差异查本月账；流水不平·核对流水查本月流水是否导全。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5603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跟着四步走，人只处理判断和例外。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32688" y="35661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疑似漏账优先核 · 调节后差额亮红才查 · 三道勾稽全过再出具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6035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银行对账工具 · 操作手册（图解版）｜ 财务核算工作台 ｜ V2.527 ｜ 2026-09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2026-09-08T10:12:51Z</dcterms:created>
  <dcterms:modified xsi:type="dcterms:W3CDTF">2026-09-08T10:12:51Z</dcterms:modified>
</cp:coreProperties>
</file>